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d9ffc860ab4ebb" /><Relationship Type="http://schemas.openxmlformats.org/officeDocument/2006/relationships/extended-properties" Target="/docProps/app.xml" Id="R381092c03bca498a" /><Relationship Type="http://schemas.openxmlformats.org/officeDocument/2006/relationships/officeDocument" Target="/ppt/presentation.xml" Id="Re7d0bf1b7115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4e8e89b0349f3"/>
  </p:sldMasterIdLst>
  <p:notesMasterIdLst>
    <p:notesMasterId xmlns:r="http://schemas.openxmlformats.org/officeDocument/2006/relationships" r:id="R4ad001ee5a0845e7"/>
  </p:notesMasterIdLst>
  <p:sldIdLst>
    <p:sldId xmlns:r="http://schemas.openxmlformats.org/officeDocument/2006/relationships" id="256" r:id="R723378d2d1c440a0"/>
    <p:sldId xmlns:r="http://schemas.openxmlformats.org/officeDocument/2006/relationships" id="257" r:id="Rdcdb49eed8a84c79"/>
    <p:sldId xmlns:r="http://schemas.openxmlformats.org/officeDocument/2006/relationships" id="258" r:id="R031b1661bf9642f3"/>
    <p:sldId xmlns:r="http://schemas.openxmlformats.org/officeDocument/2006/relationships" id="259" r:id="Rcbacb3276c364c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9096ce93854e54" /><Relationship Type="http://schemas.openxmlformats.org/officeDocument/2006/relationships/slideMaster" Target="/ppt/slideMasters/slideMaster1.xml" Id="R3f14e8e89b0349f3" /><Relationship Type="http://schemas.openxmlformats.org/officeDocument/2006/relationships/notesMaster" Target="/ppt/notesMasters/notesMaster1.xml" Id="R4ad001ee5a0845e7" /><Relationship Type="http://schemas.openxmlformats.org/officeDocument/2006/relationships/presProps" Target="/ppt/presProps.xml" Id="R024b511e7a7f436b" /><Relationship Type="http://schemas.openxmlformats.org/officeDocument/2006/relationships/tableStyles" Target="/ppt/tableStyles.xml" Id="R1f035d3aae7f44f3" /><Relationship Type="http://schemas.openxmlformats.org/officeDocument/2006/relationships/slide" Target="/ppt/slides/slide1.xml" Id="R723378d2d1c440a0" /><Relationship Type="http://schemas.openxmlformats.org/officeDocument/2006/relationships/slide" Target="/ppt/slides/slide2.xml" Id="Rdcdb49eed8a84c79" /><Relationship Type="http://schemas.openxmlformats.org/officeDocument/2006/relationships/slide" Target="/ppt/slides/slide3.xml" Id="R031b1661bf9642f3" /><Relationship Type="http://schemas.openxmlformats.org/officeDocument/2006/relationships/slide" Target="/ppt/slides/slide4.xml" Id="Rcbacb3276c364c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c4691f9e1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20a11481149b6" /><Relationship Type="http://schemas.openxmlformats.org/officeDocument/2006/relationships/notesMaster" Target="/ppt/notesMasters/notesMaster1.xml" Id="R4613388a1f5f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ab074246d941d7" /><Relationship Type="http://schemas.openxmlformats.org/officeDocument/2006/relationships/notesMaster" Target="/ppt/notesMasters/notesMaster1.xml" Id="Rf5f999531f33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714fe9f7d0488c" /><Relationship Type="http://schemas.openxmlformats.org/officeDocument/2006/relationships/notesMaster" Target="/ppt/notesMasters/notesMaster1.xml" Id="Rd5d39e8caaee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af49679a644895" /><Relationship Type="http://schemas.openxmlformats.org/officeDocument/2006/relationships/notesMaster" Target="/ppt/notesMasters/notesMaster1.xml" Id="R9cf0e00d173d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原始来源：Project 1.pptx、Project 1 稿子.pdf、SCOPE Project 1.pdf。假设交易，不代表真实收购。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数据来源：Project 1.pptx 第1页。原并表模型底稿不完整，表中为历史演示情景。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原始来源：Project 1 稿子.pdf 第1–3页。此页为研究逻辑重写，不声称协同已经实现。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个人职责依据Project 1 稿子.pdf Rao段落。完整证据登记见GitHub finance-decision-case-studies/docs/evidence.md。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6d141e32a42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aecef4f144551" /><Relationship Type="http://schemas.openxmlformats.org/officeDocument/2006/relationships/slideLayout" Target="/ppt/slideLayouts/slideLayout1.xml" Id="R71722551dc044c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22551dc044c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77117756e4a3f" /><Relationship Type="http://schemas.openxmlformats.org/officeDocument/2006/relationships/notesSlide" Target="/ppt/notesSlides/notesSlide1.xml" Id="R3a9714304043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54be379be42f3" /><Relationship Type="http://schemas.openxmlformats.org/officeDocument/2006/relationships/notesSlide" Target="/ppt/notesSlides/notesSlide2.xml" Id="R0f91cbb39cd449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4627e0f834461" /><Relationship Type="http://schemas.openxmlformats.org/officeDocument/2006/relationships/notesSlide" Target="/ppt/notesSlides/notesSlide3.xml" Id="Re52576ef19b14b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43ed1d0a341d4" /><Relationship Type="http://schemas.openxmlformats.org/officeDocument/2006/relationships/notesSlide" Target="/ppt/notesSlides/notesSlide4.xml" Id="Rd72f9d5e98844e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47BB-CD21-412A-A2B4-384867F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TWE并购与融资决策分析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CA61-5D5D-4DFC-B1DE-8E207BA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财务分析与决策支持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826D1-D71C-468F-A772-9861311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研究对象：Treasury Wine Estates 与 Australian Vintage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93E0-CDC8-45CE-85B3-5CAAA896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分析重点：业务互补、偿债能力与融资约束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6853-C16D-4C4F-BA4D-81717DA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研究时点：2023年　　展示整理：2026年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9B9DC-426B-481C-84EB-31EFC42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企业融资分析    1 / 4</a:t>
            </a:r>
          </a:p>
        </p:txBody>
      </p:sp>
    </p:spTree>
    <p:extLst>
      <p:ext uri="{BB962C8B-B14F-4D97-AF65-F5344CB8AC3E}">
        <p14:creationId xmlns:p14="http://schemas.microsoft.com/office/powerpoint/2010/main" val="129322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FBE3C-6B9F-41AD-A405-5C49964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并购前后的财务缓冲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CBABF-EC1B-4F82-8CC7-8C72C887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原项目假设情景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23900" y="2133600"/>
          <a:ext xmlns:a="http://schemas.openxmlformats.org/drawingml/2006/main" cx="107061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0100"/>
                <a:gridCol w="3048000"/>
                <a:gridCol w="30480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并购前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假设并购后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债务／权益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23.69%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26.27%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利息保障倍数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流动比率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速动比率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现金比率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D6CAF-007A-4403-9557-D2D5AB39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流动比率略升，速动与现金比率下降，需要分别解释。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3B655-7C72-4707-B4B4-DD2979E2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企业融资分析    2 / 4</a:t>
            </a:r>
          </a:p>
        </p:txBody>
      </p:sp>
    </p:spTree>
    <p:extLst>
      <p:ext uri="{BB962C8B-B14F-4D97-AF65-F5344CB8AC3E}">
        <p14:creationId xmlns:p14="http://schemas.microsoft.com/office/powerpoint/2010/main" val="2138226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DCC19-43DA-4621-9385-3404368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融资安排的取舍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C1633-4591-45BF-ACAF-344BECD3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将战略逻辑与财务约束一起评估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34378-8D70-4DD3-8F60-D4345AE3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业务互补：讨论低／无酒精产品能力及高端品牌组合。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BF14E-ECD4-4A44-A866-016291BD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现金投入：影响运营缓冲及后续投资空间。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36C90-6BCE-4AA7-B6FE-1C2295C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新增债务：增加利息支出，需要同时评估经营利润。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64A98-607D-4FB8-9891-19BC1B45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整合风险：协同兑现时点和实施成本影响交易价值。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76EE7-C012-429B-916D-5321FB91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企业融资分析    3 / 4</a:t>
            </a:r>
          </a:p>
        </p:txBody>
      </p:sp>
    </p:spTree>
    <p:extLst>
      <p:ext uri="{BB962C8B-B14F-4D97-AF65-F5344CB8AC3E}">
        <p14:creationId xmlns:p14="http://schemas.microsoft.com/office/powerpoint/2010/main" val="1613394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2DD54-C6BB-46C0-BBFD-B6264653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个人工作与分析结论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975B8-A157-4F3D-868F-A849ECCD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财务指标分析、同业比较与决策表达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12088-B2D5-4C05-951D-5E9501F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承担杠杆、流动性、资本结构与WACC影响的分析讲解。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FB1E7-634E-4C85-B420-A040649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将多项财务指标转化为偿债压力和资金灵活性判断。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3A381-C13E-401D-A268-13A5AE9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较低杠杆不能单独证明融资可行，还需验证现金流。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E4361-E44B-4B9E-98AF-84D59A6D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原版本报价与WACC有差异，未作为已验证业绩呈现。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C8C27-E413-4EB9-95AD-0560E465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企业融资分析    4 / 4</a:t>
            </a:r>
          </a:p>
        </p:txBody>
      </p:sp>
    </p:spTree>
    <p:extLst>
      <p:ext uri="{BB962C8B-B14F-4D97-AF65-F5344CB8AC3E}">
        <p14:creationId xmlns:p14="http://schemas.microsoft.com/office/powerpoint/2010/main" val="149416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2026-09-30T11:59:30.8790000Z</dcterms:created>
  <dcterms:modified xsi:type="dcterms:W3CDTF">2026-09-30T11:59:30.8790000Z</dcterms:modified>
</coreProperties>
</file>
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a7fb0e1534b26" /><Relationship Type="http://schemas.openxmlformats.org/officeDocument/2006/relationships/extended-properties" Target="/docProps/app.xml" Id="Rcb5929bff4804ee5" /><Relationship Type="http://schemas.openxmlformats.org/officeDocument/2006/relationships/officeDocument" Target="/ppt/presentation.xml" Id="R16f4e0ecb52b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d677f89d1644a6"/>
  </p:sldMasterIdLst>
  <p:notesMasterIdLst>
    <p:notesMasterId xmlns:r="http://schemas.openxmlformats.org/officeDocument/2006/relationships" r:id="Rcf80bbf297ed476c"/>
  </p:notesMasterIdLst>
  <p:sldIdLst>
    <p:sldId xmlns:r="http://schemas.openxmlformats.org/officeDocument/2006/relationships" id="256" r:id="R1a7ef74ab6684d61"/>
    <p:sldId xmlns:r="http://schemas.openxmlformats.org/officeDocument/2006/relationships" id="257" r:id="R249ac674c0454d37"/>
    <p:sldId xmlns:r="http://schemas.openxmlformats.org/officeDocument/2006/relationships" id="258" r:id="R08b3f3b8ed874c80"/>
    <p:sldId xmlns:r="http://schemas.openxmlformats.org/officeDocument/2006/relationships" id="259" r:id="Rb9b6fb3e94ba48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fff5286ff48ac" /><Relationship Type="http://schemas.openxmlformats.org/officeDocument/2006/relationships/slideMaster" Target="/ppt/slideMasters/slideMaster1.xml" Id="R1ad677f89d1644a6" /><Relationship Type="http://schemas.openxmlformats.org/officeDocument/2006/relationships/notesMaster" Target="/ppt/notesMasters/notesMaster1.xml" Id="Rcf80bbf297ed476c" /><Relationship Type="http://schemas.openxmlformats.org/officeDocument/2006/relationships/presProps" Target="/ppt/presProps.xml" Id="R4b58beb426f34fb4" /><Relationship Type="http://schemas.openxmlformats.org/officeDocument/2006/relationships/tableStyles" Target="/ppt/tableStyles.xml" Id="Ra4c24452727e4ed8" /><Relationship Type="http://schemas.openxmlformats.org/officeDocument/2006/relationships/slide" Target="/ppt/slides/slide1.xml" Id="R1a7ef74ab6684d61" /><Relationship Type="http://schemas.openxmlformats.org/officeDocument/2006/relationships/slide" Target="/ppt/slides/slide2.xml" Id="R249ac674c0454d37" /><Relationship Type="http://schemas.openxmlformats.org/officeDocument/2006/relationships/slide" Target="/ppt/slides/slide3.xml" Id="R08b3f3b8ed874c80" /><Relationship Type="http://schemas.openxmlformats.org/officeDocument/2006/relationships/slide" Target="/ppt/slides/slide4.xml" Id="Rb9b6fb3e94ba48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ee03ace0f7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2088c5e0343e2" /><Relationship Type="http://schemas.openxmlformats.org/officeDocument/2006/relationships/notesMaster" Target="/ppt/notesMasters/notesMaster1.xml" Id="R5ffb5691455348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a42788f9f44479" /><Relationship Type="http://schemas.openxmlformats.org/officeDocument/2006/relationships/notesMaster" Target="/ppt/notesMasters/notesMaster1.xml" Id="R0cee7ffc25be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4fe57d823545bf" /><Relationship Type="http://schemas.openxmlformats.org/officeDocument/2006/relationships/notesMaster" Target="/ppt/notesMasters/notesMaster1.xml" Id="R59da20352be64a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758aff235b45f7" /><Relationship Type="http://schemas.openxmlformats.org/officeDocument/2006/relationships/notesMaster" Target="/ppt/notesMasters/notesMaster1.xml" Id="Rdba70916f65b43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原始来源：Project 2.pptx、DLIS Model.docx、AA Model:DLIS Model.pdf。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来源：Project 2.pptx 第1页。原工作簿当前新成员工资为A$74,651。12%为当时长期模型假设。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来源：DLIS Model.docx模型运行说明及AA Model:DLIS Model.pdf第3–7页。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职责依据AA Model:DLIS Model.pdf第9页及本人确认。原Excel模板归University of Sydney Business School；保留来源声明。原宏波动率问题、保存参数差异见仓库检查记录。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8c204e2a148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59828451524eb6" /><Relationship Type="http://schemas.openxmlformats.org/officeDocument/2006/relationships/slideLayout" Target="/ppt/slideLayouts/slideLayout1.xml" Id="R4ba5ab10cfd44d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a5ab10cfd44d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94a38bef54302" /><Relationship Type="http://schemas.openxmlformats.org/officeDocument/2006/relationships/notesSlide" Target="/ppt/notesSlides/notesSlide1.xml" Id="R57d5acfb3955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03f45f7644728" /><Relationship Type="http://schemas.openxmlformats.org/officeDocument/2006/relationships/notesSlide" Target="/ppt/notesSlides/notesSlide2.xml" Id="R42316803c04441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c8e10a78b43c3" /><Relationship Type="http://schemas.openxmlformats.org/officeDocument/2006/relationships/notesSlide" Target="/ppt/notesSlides/notesSlide3.xml" Id="R3a5cc55e26e848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8c927d83041dd" /><Relationship Type="http://schemas.openxmlformats.org/officeDocument/2006/relationships/notesSlide" Target="/ppt/notesSlides/notesSlide4.xml" Id="Rf77f35be9a5946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50E8-CB6E-487B-BCDD-C885C4B3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养老金生命周期策略研究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670A8-D832-4D55-8BFC-D08412C4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投资策略分析与情景模拟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C4E8D-D33B-4B8B-9061-9887B702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研究问题：不同年龄成员是否适合相同的默认配置？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A0F88-F4D5-421C-831D-6FD53BBD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比较对象：统一平衡型配置与分阶段生命周期策略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C905E-E013-436F-8F66-CFA136EA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分析方法：参数设定、模拟运行及市场冲击比较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E6A74-E26F-4CB2-AD21-34B699C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养老金投资策略    1 / 4</a:t>
            </a:r>
          </a:p>
        </p:txBody>
      </p:sp>
    </p:spTree>
    <p:extLst>
      <p:ext uri="{BB962C8B-B14F-4D97-AF65-F5344CB8AC3E}">
        <p14:creationId xmlns:p14="http://schemas.microsoft.com/office/powerpoint/2010/main" val="2015386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BFF31-7BD8-4C23-98E0-46F3743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两类成员的模型起点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7BA38-F963-4718-8717-F0000C2C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用于原项目比较的输入假设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23900" y="2133600"/>
          <a:ext xmlns:a="http://schemas.openxmlformats.org/drawingml/2006/main" cx="107061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0100"/>
                <a:gridCol w="3048000"/>
                <a:gridCol w="304800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5D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5D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新成员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5D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50岁成员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起始账户余额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A$15,480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A$237,180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起始年薪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A$68,470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A$171,733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长期缴费率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市场冲击假设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−37%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43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−37%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8B9D-026C-407F-AA8B-DED8B80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参数来自项目演示材料，补充工作簿保存的工资存在版本差异。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5AA5F-6C96-4800-9A83-9CCDA3E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养老金投资策略    2 / 4</a:t>
            </a:r>
          </a:p>
        </p:txBody>
      </p:sp>
    </p:spTree>
    <p:extLst>
      <p:ext uri="{BB962C8B-B14F-4D97-AF65-F5344CB8AC3E}">
        <p14:creationId xmlns:p14="http://schemas.microsoft.com/office/powerpoint/2010/main" val="563158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00379-554B-4184-A65B-A8C31EA3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策略与情景比较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4F54B-FDA7-4894-AEC6-C9A6C14E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明确成员、配置与冲击条件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058C0-7A7B-4314-968C-23787783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两类成员：新成员与50岁成员。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ACD6E-D4F4-4AE1-AFDB-A568DB00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两种配置：统一平衡型与生命周期配置。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E3A5-AB94-4A3F-B19A-15148CDC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两种情景：市场冲击与无冲击。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3B6FA-581B-466C-A0A6-9D00959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比较退休余额均值、标准差与分布，而非只看单个终值。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54E1B-9486-4717-9FE9-6252CA93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养老金投资策略    3 / 4</a:t>
            </a:r>
          </a:p>
        </p:txBody>
      </p:sp>
    </p:spTree>
    <p:extLst>
      <p:ext uri="{BB962C8B-B14F-4D97-AF65-F5344CB8AC3E}">
        <p14:creationId xmlns:p14="http://schemas.microsoft.com/office/powerpoint/2010/main" val="1518296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0152E-D665-4B04-8DDD-98484D61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个人贡献与模型边界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B65F9-6BCA-4918-9487-E9887647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55DF"/>
                </a:solidFill>
                <a:latin typeface="Hiragino Sans GB"/>
                <a:ea typeface="Hiragino Sans GB"/>
                <a:cs typeface="Hiragino Sans GB"/>
              </a:rPr>
              <a:t>模型应用、运行与结果解释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34786-1349-4A04-B08E-17B8A541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设定余额、薪资增长、缴费率及投资选项，运行情景比较。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35669-7A36-4A0B-810F-4106C06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分析市场冲击与降风险时点对退休积累的影响。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B1681-C3E5-40B3-BEC8-16401B9D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底层Excel采用已有模板，个人工作聚焦模型应用与研究。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B035A-C4BC-439E-8B35-501B4BD1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43F"/>
                </a:solidFill>
                <a:latin typeface="Hiragino Sans GB"/>
                <a:ea typeface="Hiragino Sans GB"/>
                <a:cs typeface="Hiragino Sans GB"/>
              </a:rPr>
              <a:t>2026年网页重建演示计算，与原Excel结果分开标注。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2875A-BB70-4A0A-A5AD-646439A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18A"/>
                </a:solidFill>
                <a:latin typeface="Hiragino Sans GB"/>
                <a:ea typeface="Hiragino Sans GB"/>
                <a:cs typeface="Hiragino Sans GB"/>
              </a:rPr>
              <a:t>傅饶 · 养老金投资策略    4 / 4</a:t>
            </a:r>
          </a:p>
        </p:txBody>
      </p:sp>
    </p:spTree>
    <p:extLst>
      <p:ext uri="{BB962C8B-B14F-4D97-AF65-F5344CB8AC3E}">
        <p14:creationId xmlns:p14="http://schemas.microsoft.com/office/powerpoint/2010/main" val="2031909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2026-09-30T11:59:34.8630000Z</dcterms:created>
  <dcterms:modified xsi:type="dcterms:W3CDTF">2026-09-30T11:59:34.8630000Z</dcterms:modified>
</coreProperties>
</file>